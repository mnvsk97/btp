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SzPct val="100000"/>
              <a:buChar char="●"/>
              <a:defRPr sz="1100"/>
            </a:lvl1pPr>
            <a:lvl2pPr lvl="1">
              <a:spcBef>
                <a:spcPts val="0"/>
              </a:spcBef>
              <a:buSzPct val="100000"/>
              <a:buChar char="○"/>
              <a:defRPr sz="1100"/>
            </a:lvl2pPr>
            <a:lvl3pPr lvl="2">
              <a:spcBef>
                <a:spcPts val="0"/>
              </a:spcBef>
              <a:buSzPct val="100000"/>
              <a:buChar char="■"/>
              <a:defRPr sz="1100"/>
            </a:lvl3pPr>
            <a:lvl4pPr lvl="3">
              <a:spcBef>
                <a:spcPts val="0"/>
              </a:spcBef>
              <a:buSzPct val="100000"/>
              <a:buChar char="●"/>
              <a:defRPr sz="1100"/>
            </a:lvl4pPr>
            <a:lvl5pPr lvl="4">
              <a:spcBef>
                <a:spcPts val="0"/>
              </a:spcBef>
              <a:buSzPct val="100000"/>
              <a:buChar char="○"/>
              <a:defRPr sz="1100"/>
            </a:lvl5pPr>
            <a:lvl6pPr lvl="5">
              <a:spcBef>
                <a:spcPts val="0"/>
              </a:spcBef>
              <a:buSzPct val="100000"/>
              <a:buChar char="■"/>
              <a:defRPr sz="1100"/>
            </a:lvl6pPr>
            <a:lvl7pPr lvl="6">
              <a:spcBef>
                <a:spcPts val="0"/>
              </a:spcBef>
              <a:buSzPct val="100000"/>
              <a:buChar char="●"/>
              <a:defRPr sz="1100"/>
            </a:lvl7pPr>
            <a:lvl8pPr lvl="7">
              <a:spcBef>
                <a:spcPts val="0"/>
              </a:spcBef>
              <a:buSzPct val="100000"/>
              <a:buChar char="○"/>
              <a:defRPr sz="1100"/>
            </a:lvl8pPr>
            <a:lvl9pPr lvl="8">
              <a:spcBef>
                <a:spcPts val="0"/>
              </a:spcBef>
              <a:buSzPct val="1000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Shape 8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Shape 9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Shape 9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Shape 10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Shape 11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Shape 12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Shape 12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Shape 13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Shape 14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Shape 14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title">
  <p:cSld name="Title slid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grpSp>
        <p:nvGrpSpPr>
          <p:cNvPr id="11" name="Shape 1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Shape 1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13" name="Shape 1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Shape 14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Clr>
                <a:schemeClr val="dk2"/>
              </a:buClr>
              <a:buSzPct val="100000"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buClr>
                <a:schemeClr val="dk2"/>
              </a:buClr>
              <a:buSzPct val="100000"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buClr>
                <a:schemeClr val="dk2"/>
              </a:buClr>
              <a:buSzPct val="100000"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buClr>
                <a:schemeClr val="dk2"/>
              </a:buClr>
              <a:buSzPct val="100000"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buClr>
                <a:schemeClr val="dk2"/>
              </a:buClr>
              <a:buSzPct val="100000"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buClr>
                <a:schemeClr val="dk2"/>
              </a:buClr>
              <a:buSzPct val="100000"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buClr>
                <a:schemeClr val="dk2"/>
              </a:buClr>
              <a:buSzPct val="100000"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buClr>
                <a:schemeClr val="dk2"/>
              </a:buClr>
              <a:buSzPct val="100000"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buClr>
                <a:schemeClr val="dk2"/>
              </a:buClr>
              <a:buSzPct val="100000"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Shape 15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600"/>
            </a:lvl9pPr>
          </a:lstStyle>
          <a:p/>
        </p:txBody>
      </p:sp>
      <p:sp>
        <p:nvSpPr>
          <p:cNvPr id="16" name="Shape 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secHead">
  <p:cSld name="Section 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Shape 1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Shape 1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20" name="Shape 2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Shape 2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Clr>
                <a:schemeClr val="lt1"/>
              </a:buClr>
              <a:buSzPct val="100000"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buClr>
                <a:schemeClr val="lt1"/>
              </a:buClr>
              <a:buSzPct val="100000"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buClr>
                <a:schemeClr val="lt1"/>
              </a:buClr>
              <a:buSzPct val="100000"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buClr>
                <a:schemeClr val="lt1"/>
              </a:buClr>
              <a:buSzPct val="100000"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buClr>
                <a:schemeClr val="lt1"/>
              </a:buClr>
              <a:buSzPct val="100000"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buClr>
                <a:schemeClr val="lt1"/>
              </a:buClr>
              <a:buSzPct val="100000"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buClr>
                <a:schemeClr val="lt1"/>
              </a:buClr>
              <a:buSzPct val="100000"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buClr>
                <a:schemeClr val="lt1"/>
              </a:buClr>
              <a:buSzPct val="100000"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buClr>
                <a:schemeClr val="lt1"/>
              </a:buClr>
              <a:buSzPct val="100000"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Shape 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tx">
  <p:cSld name="Title and 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grpSp>
        <p:nvGrpSpPr>
          <p:cNvPr id="25" name="Shape 2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Shape 2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27" name="Shape 2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Shape 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Clr>
                <a:schemeClr val="dk2"/>
              </a:buClr>
              <a:buSzPct val="100000"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buClr>
                <a:schemeClr val="dk2"/>
              </a:buClr>
              <a:buSzPct val="100000"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buClr>
                <a:schemeClr val="dk2"/>
              </a:buClr>
              <a:buSzPct val="100000"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buClr>
                <a:schemeClr val="dk2"/>
              </a:buClr>
              <a:buSzPct val="100000"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buClr>
                <a:schemeClr val="dk2"/>
              </a:buClr>
              <a:buSzPct val="100000"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buClr>
                <a:schemeClr val="dk2"/>
              </a:buClr>
              <a:buSzPct val="100000"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buClr>
                <a:schemeClr val="dk2"/>
              </a:buClr>
              <a:buSzPct val="100000"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buClr>
                <a:schemeClr val="dk2"/>
              </a:buClr>
              <a:buSzPct val="100000"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buClr>
                <a:schemeClr val="dk2"/>
              </a:buClr>
              <a:buSzPct val="100000"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" name="Shape 2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30" name="Shape 3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twoColTx">
  <p:cSld name="Title and two 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grpSp>
        <p:nvGrpSpPr>
          <p:cNvPr id="33" name="Shape 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Shape 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35" name="Shape 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Shape 3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Clr>
                <a:schemeClr val="dk2"/>
              </a:buClr>
              <a:buSzPct val="100000"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buClr>
                <a:schemeClr val="dk2"/>
              </a:buClr>
              <a:buSzPct val="100000"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buClr>
                <a:schemeClr val="dk2"/>
              </a:buClr>
              <a:buSzPct val="100000"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buClr>
                <a:schemeClr val="dk2"/>
              </a:buClr>
              <a:buSzPct val="100000"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buClr>
                <a:schemeClr val="dk2"/>
              </a:buClr>
              <a:buSzPct val="100000"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buClr>
                <a:schemeClr val="dk2"/>
              </a:buClr>
              <a:buSzPct val="100000"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buClr>
                <a:schemeClr val="dk2"/>
              </a:buClr>
              <a:buSzPct val="100000"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buClr>
                <a:schemeClr val="dk2"/>
              </a:buClr>
              <a:buSzPct val="100000"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buClr>
                <a:schemeClr val="dk2"/>
              </a:buClr>
              <a:buSzPct val="100000"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7" name="Shape 37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38" name="Shape 38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39" name="Shape 3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titleOnly">
  <p:cSld name="Title 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grpSp>
        <p:nvGrpSpPr>
          <p:cNvPr id="42" name="Shape 4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Shape 4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44" name="Shape 4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Shape 4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Clr>
                <a:schemeClr val="dk2"/>
              </a:buClr>
              <a:buSzPct val="100000"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buClr>
                <a:schemeClr val="dk2"/>
              </a:buClr>
              <a:buSzPct val="100000"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buClr>
                <a:schemeClr val="dk2"/>
              </a:buClr>
              <a:buSzPct val="100000"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buClr>
                <a:schemeClr val="dk2"/>
              </a:buClr>
              <a:buSzPct val="100000"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buClr>
                <a:schemeClr val="dk2"/>
              </a:buClr>
              <a:buSzPct val="100000"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buClr>
                <a:schemeClr val="dk2"/>
              </a:buClr>
              <a:buSzPct val="100000"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buClr>
                <a:schemeClr val="dk2"/>
              </a:buClr>
              <a:buSzPct val="100000"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buClr>
                <a:schemeClr val="dk2"/>
              </a:buClr>
              <a:buSzPct val="100000"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buClr>
                <a:schemeClr val="dk2"/>
              </a:buClr>
              <a:buSzPct val="100000"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" name="Shape 4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One column 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grpSp>
        <p:nvGrpSpPr>
          <p:cNvPr id="49" name="Shape 4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Shape 5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51" name="Shape 5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Shape 52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Clr>
                <a:schemeClr val="dk2"/>
              </a:buClr>
              <a:buSzPct val="100000"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buClr>
                <a:schemeClr val="dk2"/>
              </a:buClr>
              <a:buSzPct val="100000"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buClr>
                <a:schemeClr val="dk2"/>
              </a:buClr>
              <a:buSzPct val="100000"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buClr>
                <a:schemeClr val="dk2"/>
              </a:buClr>
              <a:buSzPct val="100000"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buClr>
                <a:schemeClr val="dk2"/>
              </a:buClr>
              <a:buSzPct val="100000"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buClr>
                <a:schemeClr val="dk2"/>
              </a:buClr>
              <a:buSzPct val="100000"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buClr>
                <a:schemeClr val="dk2"/>
              </a:buClr>
              <a:buSzPct val="100000"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buClr>
                <a:schemeClr val="dk2"/>
              </a:buClr>
              <a:buSzPct val="100000"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buClr>
                <a:schemeClr val="dk2"/>
              </a:buClr>
              <a:buSzPct val="100000"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Shape 53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54" name="Shape 5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Main 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Shape 56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Shape 5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58" name="Shape 5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Shape 59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rIns="91425" wrap="square" tIns="91425"/>
          <a:lstStyle>
            <a:lvl1pPr lvl="0">
              <a:spcBef>
                <a:spcPts val="0"/>
              </a:spcBef>
              <a:buClr>
                <a:schemeClr val="lt1"/>
              </a:buClr>
              <a:buSzPct val="100000"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buClr>
                <a:schemeClr val="lt1"/>
              </a:buClr>
              <a:buSzPct val="100000"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buClr>
                <a:schemeClr val="lt1"/>
              </a:buClr>
              <a:buSzPct val="100000"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buClr>
                <a:schemeClr val="lt1"/>
              </a:buClr>
              <a:buSzPct val="100000"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buClr>
                <a:schemeClr val="lt1"/>
              </a:buClr>
              <a:buSzPct val="100000"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buClr>
                <a:schemeClr val="lt1"/>
              </a:buClr>
              <a:buSzPct val="100000"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buClr>
                <a:schemeClr val="lt1"/>
              </a:buClr>
              <a:buSzPct val="100000"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buClr>
                <a:schemeClr val="lt1"/>
              </a:buClr>
              <a:buSzPct val="100000"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buClr>
                <a:schemeClr val="lt1"/>
              </a:buClr>
              <a:buSzPct val="100000"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Shape 6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ection title and 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grpSp>
        <p:nvGrpSpPr>
          <p:cNvPr id="63" name="Shape 6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Shape 6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5" name="Shape 6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Shape 66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Clr>
                <a:schemeClr val="dk2"/>
              </a:buClr>
              <a:buSzPct val="100000"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buClr>
                <a:schemeClr val="dk2"/>
              </a:buClr>
              <a:buSzPct val="100000"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buClr>
                <a:schemeClr val="dk2"/>
              </a:buClr>
              <a:buSzPct val="100000"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buClr>
                <a:schemeClr val="dk2"/>
              </a:buClr>
              <a:buSzPct val="100000"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buClr>
                <a:schemeClr val="dk2"/>
              </a:buClr>
              <a:buSzPct val="100000"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buClr>
                <a:schemeClr val="dk2"/>
              </a:buClr>
              <a:buSzPct val="100000"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buClr>
                <a:schemeClr val="dk2"/>
              </a:buClr>
              <a:buSzPct val="100000"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buClr>
                <a:schemeClr val="dk2"/>
              </a:buClr>
              <a:buSzPct val="100000"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buClr>
                <a:schemeClr val="dk2"/>
              </a:buClr>
              <a:buSzPct val="100000"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Shape 67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600"/>
            </a:lvl9pPr>
          </a:lstStyle>
          <a:p/>
        </p:txBody>
      </p:sp>
      <p:sp>
        <p:nvSpPr>
          <p:cNvPr id="68" name="Shape 68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69" name="Shape 6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Caption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/>
        </p:txBody>
      </p:sp>
      <p:sp>
        <p:nvSpPr>
          <p:cNvPr id="72" name="Shape 7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Big 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Shape 74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Shape 7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6" name="Shape 7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Shape 77"/>
          <p:cNvSpPr txBox="1"/>
          <p:nvPr>
            <p:ph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Clr>
                <a:schemeClr val="lt1"/>
              </a:buClr>
              <a:buSzPct val="100000"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buClr>
                <a:schemeClr val="lt1"/>
              </a:buClr>
              <a:buSzPct val="100000"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buClr>
                <a:schemeClr val="lt1"/>
              </a:buClr>
              <a:buSzPct val="100000"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buClr>
                <a:schemeClr val="lt1"/>
              </a:buClr>
              <a:buSzPct val="100000"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buClr>
                <a:schemeClr val="lt1"/>
              </a:buClr>
              <a:buSzPct val="100000"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buClr>
                <a:schemeClr val="lt1"/>
              </a:buClr>
              <a:buSzPct val="100000"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buClr>
                <a:schemeClr val="lt1"/>
              </a:buClr>
              <a:buSzPct val="100000"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buClr>
                <a:schemeClr val="lt1"/>
              </a:buClr>
              <a:buSzPct val="100000"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buClr>
                <a:schemeClr val="lt1"/>
              </a:buClr>
              <a:buSzPct val="100000"/>
              <a:defRPr sz="8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Shape 78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Shape 7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SzPct val="1000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buSzPct val="1000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buSzPct val="1000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buSzPct val="1000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buSzPct val="1000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buSzPct val="1000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buSzPct val="1000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buSzPct val="1000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buSzPct val="1000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Shape 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/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accent1"/>
              </a:buClr>
              <a:buSzPct val="1000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accent1"/>
              </a:buClr>
              <a:buSzPct val="1000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accent1"/>
              </a:buClr>
              <a:buSzPct val="1000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accent1"/>
              </a:buClr>
              <a:buSzPct val="1000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accent1"/>
              </a:buClr>
              <a:buSzPct val="1000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accent1"/>
              </a:buClr>
              <a:buSzPct val="1000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accent1"/>
              </a:buClr>
              <a:buSzPct val="1000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accent1"/>
              </a:buClr>
              <a:buSzPct val="1000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accent1"/>
              </a:buClr>
              <a:buSzPct val="1000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 algn="r">
              <a:spcBef>
                <a:spcPts val="0"/>
              </a:spcBef>
              <a:buNone/>
            </a:pPr>
            <a:fld id="{00000000-1234-1234-1234-123412341234}" type="slidenum">
              <a:rPr lang="en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rive.google.com/file/d/1xlJEAT3hZOuKa4YiOPp-ZjlYVUAG8R5Z/view" TargetMode="External"/><Relationship Id="rId4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 txBox="1"/>
          <p:nvPr>
            <p:ph type="ctrTitle"/>
          </p:nvPr>
        </p:nvSpPr>
        <p:spPr>
          <a:xfrm>
            <a:off x="311708" y="1366725"/>
            <a:ext cx="8520600" cy="20526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b="1" lang="en" sz="3600">
                <a:latin typeface="Calibri"/>
                <a:ea typeface="Calibri"/>
                <a:cs typeface="Calibri"/>
                <a:sym typeface="Calibri"/>
              </a:rPr>
              <a:t>Obstacle Avoidance </a:t>
            </a:r>
          </a:p>
          <a:p>
            <a:pPr lvl="0" rtl="0">
              <a:spcBef>
                <a:spcPts val="0"/>
              </a:spcBef>
              <a:buNone/>
            </a:pPr>
            <a:r>
              <a:rPr b="1" i="1" lang="en" sz="3600">
                <a:latin typeface="Calibri"/>
                <a:ea typeface="Calibri"/>
                <a:cs typeface="Calibri"/>
                <a:sym typeface="Calibri"/>
              </a:rPr>
              <a:t>and </a:t>
            </a:r>
          </a:p>
          <a:p>
            <a:pPr lvl="0" rtl="0">
              <a:spcBef>
                <a:spcPts val="0"/>
              </a:spcBef>
              <a:buNone/>
            </a:pPr>
            <a:r>
              <a:rPr b="1" lang="en" sz="3600">
                <a:latin typeface="Calibri"/>
                <a:ea typeface="Calibri"/>
                <a:cs typeface="Calibri"/>
                <a:sym typeface="Calibri"/>
              </a:rPr>
              <a:t>Object Recognition </a:t>
            </a:r>
          </a:p>
          <a:p>
            <a:pPr lvl="0" rtl="0">
              <a:spcBef>
                <a:spcPts val="0"/>
              </a:spcBef>
              <a:buNone/>
            </a:pPr>
            <a:r>
              <a:rPr b="1" i="1" lang="en" sz="3600">
                <a:latin typeface="Calibri"/>
                <a:ea typeface="Calibri"/>
                <a:cs typeface="Calibri"/>
                <a:sym typeface="Calibri"/>
              </a:rPr>
              <a:t>for the</a:t>
            </a:r>
          </a:p>
          <a:p>
            <a:pPr lvl="0" rtl="0">
              <a:spcBef>
                <a:spcPts val="0"/>
              </a:spcBef>
              <a:buNone/>
            </a:pPr>
            <a:r>
              <a:rPr b="1" lang="en" sz="3600">
                <a:latin typeface="Calibri"/>
                <a:ea typeface="Calibri"/>
                <a:cs typeface="Calibri"/>
                <a:sym typeface="Calibri"/>
              </a:rPr>
              <a:t>Visually Impaired</a:t>
            </a:r>
          </a:p>
        </p:txBody>
      </p:sp>
      <p:sp>
        <p:nvSpPr>
          <p:cNvPr id="87" name="Shape 87"/>
          <p:cNvSpPr txBox="1"/>
          <p:nvPr/>
        </p:nvSpPr>
        <p:spPr>
          <a:xfrm>
            <a:off x="6200175" y="3617450"/>
            <a:ext cx="26322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i="1" lang="en"/>
              <a:t>Presented by:</a:t>
            </a: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 i="1"/>
          </a:p>
          <a:p>
            <a:pPr lvl="0" rtl="0">
              <a:spcBef>
                <a:spcPts val="0"/>
              </a:spcBef>
              <a:buNone/>
            </a:pPr>
            <a:r>
              <a:rPr b="1" i="1" lang="en"/>
              <a:t>Katta Priyatham (14115059)</a:t>
            </a:r>
          </a:p>
          <a:p>
            <a:pPr lvl="0" rtl="0">
              <a:spcBef>
                <a:spcPts val="0"/>
              </a:spcBef>
              <a:buNone/>
            </a:pPr>
            <a:r>
              <a:rPr b="1" i="1" lang="en"/>
              <a:t>MNV Sai Krishna (14115064)</a:t>
            </a:r>
          </a:p>
          <a:p>
            <a:pPr lvl="0" rtl="0">
              <a:spcBef>
                <a:spcPts val="0"/>
              </a:spcBef>
              <a:buNone/>
            </a:pPr>
            <a:r>
              <a:rPr b="1" i="1" lang="en"/>
              <a:t>Maharnab Mitra (14115065)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Objective </a:t>
            </a:r>
          </a:p>
        </p:txBody>
      </p:sp>
      <p:sp>
        <p:nvSpPr>
          <p:cNvPr id="93" name="Shape 9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</a:rPr>
              <a:t>The mission of this project is to develop a visual system with 'human-like' capabilities for blind and visually impaired persons, via the use of computer vision and deep learning techniques.</a:t>
            </a: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b="1" lang="en" sz="1400">
                <a:solidFill>
                  <a:schemeClr val="dk1"/>
                </a:solidFill>
              </a:rPr>
              <a:t>Navigation :</a:t>
            </a:r>
            <a:r>
              <a:rPr lang="en" sz="1400">
                <a:solidFill>
                  <a:schemeClr val="dk1"/>
                </a:solidFill>
              </a:rPr>
              <a:t> Helping the user to move on busy streets and trying to avoid collisions with other people and objects (vehicles in particular)</a:t>
            </a: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b="1" lang="en" sz="1400">
                <a:solidFill>
                  <a:schemeClr val="dk1"/>
                </a:solidFill>
              </a:rPr>
              <a:t>Search Assistance :</a:t>
            </a:r>
            <a:r>
              <a:rPr lang="en" sz="1400">
                <a:solidFill>
                  <a:schemeClr val="dk1"/>
                </a:solidFill>
              </a:rPr>
              <a:t> Generation of 3d sound plays a major role in this mode. The developed model is expected to help the user to find an item, for example, finding a chair, water bottle, fridge etc. 3d sound as explained before helps the user to find out where an object is spatially located indoors.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Object Detection Algorithm</a:t>
            </a:r>
          </a:p>
        </p:txBody>
      </p:sp>
      <p:sp>
        <p:nvSpPr>
          <p:cNvPr id="99" name="Shape 9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-31115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">
                <a:solidFill>
                  <a:schemeClr val="dk1"/>
                </a:solidFill>
              </a:rPr>
              <a:t>YOLO (You Only Look Once) based on </a:t>
            </a:r>
            <a:r>
              <a:rPr lang="en">
                <a:solidFill>
                  <a:schemeClr val="dk1"/>
                </a:solidFill>
              </a:rPr>
              <a:t>RCNN (Region-based Convolutional Neural Networks)</a:t>
            </a:r>
          </a:p>
          <a:p>
            <a:pPr indent="-31115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">
                <a:solidFill>
                  <a:schemeClr val="dk1"/>
                </a:solidFill>
              </a:rPr>
              <a:t>Currently our model is capable of detecting 20 classes of objects which are mentioned in our report.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 txBox="1"/>
          <p:nvPr>
            <p:ph type="title"/>
          </p:nvPr>
        </p:nvSpPr>
        <p:spPr>
          <a:xfrm>
            <a:off x="311700" y="184675"/>
            <a:ext cx="8520600" cy="5727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Working of YOLO</a:t>
            </a:r>
          </a:p>
        </p:txBody>
      </p:sp>
      <p:pic>
        <p:nvPicPr>
          <p:cNvPr id="105" name="Shape 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2650" y="985800"/>
            <a:ext cx="1798725" cy="179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Shape 10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7100" y="985800"/>
            <a:ext cx="1798725" cy="179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Shape 10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87100" y="3133098"/>
            <a:ext cx="1798725" cy="179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Shape 10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72650" y="3133100"/>
            <a:ext cx="1798725" cy="179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Shape 109"/>
          <p:cNvSpPr/>
          <p:nvPr/>
        </p:nvSpPr>
        <p:spPr>
          <a:xfrm>
            <a:off x="3976575" y="1822225"/>
            <a:ext cx="589800" cy="394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10" name="Shape 110"/>
          <p:cNvSpPr/>
          <p:nvPr/>
        </p:nvSpPr>
        <p:spPr>
          <a:xfrm>
            <a:off x="3934325" y="3877825"/>
            <a:ext cx="589800" cy="3948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11" name="Shape 111"/>
          <p:cNvSpPr/>
          <p:nvPr/>
        </p:nvSpPr>
        <p:spPr>
          <a:xfrm rot="5400000">
            <a:off x="6018700" y="2688300"/>
            <a:ext cx="2468400" cy="736200"/>
          </a:xfrm>
          <a:prstGeom prst="uturnArrow">
            <a:avLst>
              <a:gd fmla="val 25000" name="adj1"/>
              <a:gd fmla="val 23158" name="adj2"/>
              <a:gd fmla="val 39034" name="adj3"/>
              <a:gd fmla="val 43750" name="adj4"/>
              <a:gd fmla="val 100000" name="adj5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Pre mid term progress</a:t>
            </a:r>
          </a:p>
        </p:txBody>
      </p:sp>
      <p:sp>
        <p:nvSpPr>
          <p:cNvPr id="117" name="Shape 117"/>
          <p:cNvSpPr txBox="1"/>
          <p:nvPr>
            <p:ph idx="1" type="body"/>
          </p:nvPr>
        </p:nvSpPr>
        <p:spPr>
          <a:xfrm>
            <a:off x="311700" y="1727100"/>
            <a:ext cx="4266300" cy="34164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" sz="1400">
                <a:solidFill>
                  <a:schemeClr val="dk1"/>
                </a:solidFill>
              </a:rPr>
              <a:t>Detection of objects 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" sz="1400">
                <a:solidFill>
                  <a:schemeClr val="dk1"/>
                </a:solidFill>
              </a:rPr>
              <a:t>A decent running time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" sz="1400">
                <a:solidFill>
                  <a:schemeClr val="dk1"/>
                </a:solidFill>
              </a:rPr>
              <a:t>successfully detects objects provided they fall in the classes used to train it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" sz="1400">
                <a:solidFill>
                  <a:schemeClr val="dk1"/>
                </a:solidFill>
              </a:rPr>
              <a:t>Algorithm was slow in terms of processing speed 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" sz="1400">
                <a:solidFill>
                  <a:schemeClr val="dk1"/>
                </a:solidFill>
              </a:rPr>
              <a:t>Required high memory to evaluate a single image</a:t>
            </a:r>
          </a:p>
        </p:txBody>
      </p:sp>
      <p:pic>
        <p:nvPicPr>
          <p:cNvPr id="118" name="Shape 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2450" y="1017725"/>
            <a:ext cx="3725875" cy="4022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Single Shot Detection (SSD)</a:t>
            </a:r>
          </a:p>
        </p:txBody>
      </p:sp>
      <p:sp>
        <p:nvSpPr>
          <p:cNvPr id="124" name="Shape 124"/>
          <p:cNvSpPr txBox="1"/>
          <p:nvPr>
            <p:ph idx="1" type="body"/>
          </p:nvPr>
        </p:nvSpPr>
        <p:spPr>
          <a:xfrm>
            <a:off x="729450" y="1985500"/>
            <a:ext cx="7688700" cy="22611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</a:rPr>
              <a:t>It discretizes the output space of bounding boxes into a set of default boxes over different aspect ratios and scales per feature map location.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</a:rPr>
              <a:t>This is a variation of our previous model. We removed some of the last layers in the neural network and traded accuracy for speed. 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</a:rPr>
              <a:t>The previous model did not work so well when a video was feeded as input. The rate at which the previous model processed a video file was about 0.1 frames/second.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</a:rPr>
              <a:t>The current model processes the given input video stream at 1 frame/second.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</a:rPr>
              <a:t>The output obtained is as follows: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Output video</a:t>
            </a:r>
          </a:p>
        </p:txBody>
      </p:sp>
      <p:sp>
        <p:nvSpPr>
          <p:cNvPr id="130" name="Shape 13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31" name="Shape 131" title="outpuhjt.mp4">
            <a:hlinkClick r:id="rId3"/>
          </p:cNvPr>
          <p:cNvSpPr/>
          <p:nvPr/>
        </p:nvSpPr>
        <p:spPr>
          <a:xfrm>
            <a:off x="3081025" y="1146175"/>
            <a:ext cx="4572000" cy="3429000"/>
          </a:xfrm>
          <a:prstGeom prst="rect">
            <a:avLst/>
          </a:prstGeom>
          <a:blipFill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136"/>
          <p:cNvSpPr txBox="1"/>
          <p:nvPr>
            <p:ph idx="1" type="body"/>
          </p:nvPr>
        </p:nvSpPr>
        <p:spPr>
          <a:xfrm>
            <a:off x="456000" y="2518975"/>
            <a:ext cx="4278900" cy="25692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lvl="0" rtl="0" algn="ct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Disparity = x−x′ = Bf / Z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</a:rPr>
              <a:t>We </a:t>
            </a:r>
            <a:r>
              <a:rPr lang="en" sz="1400">
                <a:solidFill>
                  <a:srgbClr val="333333"/>
                </a:solidFill>
                <a:highlight>
                  <a:srgbClr val="FFFFFF"/>
                </a:highlight>
              </a:rPr>
              <a:t>can determine which objects are nearest to the stereo webcams by calculating the shift between the object from ‘left eye’ and ‘right eye’ perspective – the bigger the shift, the nearer the object. The result obtained when we ran this algorithm on a single image is as follows.</a:t>
            </a:r>
            <a:br>
              <a:rPr lang="en" sz="1400">
                <a:solidFill>
                  <a:srgbClr val="333333"/>
                </a:solidFill>
                <a:highlight>
                  <a:srgbClr val="FFFFFF"/>
                </a:highlight>
              </a:rPr>
            </a:br>
          </a:p>
        </p:txBody>
      </p:sp>
      <p:pic>
        <p:nvPicPr>
          <p:cNvPr id="137" name="Shape 1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6300" y="2372025"/>
            <a:ext cx="2895100" cy="250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Shape 138"/>
          <p:cNvSpPr txBox="1"/>
          <p:nvPr>
            <p:ph idx="1" type="body"/>
          </p:nvPr>
        </p:nvSpPr>
        <p:spPr>
          <a:xfrm>
            <a:off x="124975" y="1449525"/>
            <a:ext cx="8520600" cy="9225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-317500" lvl="0" marL="4572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AutoNum type="arabicPeriod"/>
            </a:pPr>
            <a:r>
              <a:rPr lang="en" sz="1400">
                <a:solidFill>
                  <a:srgbClr val="000000"/>
                </a:solidFill>
              </a:rPr>
              <a:t>As demonstrated in the output video. We measure the size of objects which cover majority of the image and warn the user accordingly.</a:t>
            </a:r>
          </a:p>
          <a:p>
            <a:pPr indent="-317500" lvl="0" marL="457200" rtl="0">
              <a:spcBef>
                <a:spcPts val="0"/>
              </a:spcBef>
              <a:buClr>
                <a:srgbClr val="000000"/>
              </a:buClr>
              <a:buSzPct val="100000"/>
              <a:buAutoNum type="arabicPeriod"/>
            </a:pPr>
            <a:r>
              <a:rPr lang="en" sz="1400">
                <a:solidFill>
                  <a:srgbClr val="000000"/>
                </a:solidFill>
              </a:rPr>
              <a:t> By using two separate cameras and calculating disparity.This method is discussed </a:t>
            </a:r>
          </a:p>
        </p:txBody>
      </p:sp>
      <p:sp>
        <p:nvSpPr>
          <p:cNvPr id="139" name="Shape 139"/>
          <p:cNvSpPr txBox="1"/>
          <p:nvPr>
            <p:ph type="title"/>
          </p:nvPr>
        </p:nvSpPr>
        <p:spPr>
          <a:xfrm>
            <a:off x="311700" y="605250"/>
            <a:ext cx="8520600" cy="5727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Depth Estimation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 txBox="1"/>
          <p:nvPr>
            <p:ph idx="1" type="body"/>
          </p:nvPr>
        </p:nvSpPr>
        <p:spPr>
          <a:xfrm>
            <a:off x="355925" y="1593850"/>
            <a:ext cx="4079100" cy="34164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-311150" lvl="0" marL="4572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</a:pPr>
            <a:r>
              <a:rPr lang="en">
                <a:solidFill>
                  <a:srgbClr val="000000"/>
                </a:solidFill>
              </a:rPr>
              <a:t>Estimating depth and generation of grayscale image</a:t>
            </a:r>
          </a:p>
          <a:p>
            <a:pPr indent="-311150" lvl="0" marL="4572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</a:pPr>
            <a:r>
              <a:rPr lang="en">
                <a:solidFill>
                  <a:srgbClr val="000000"/>
                </a:solidFill>
              </a:rPr>
              <a:t>The nearer the object, The brighter is the pixel value.</a:t>
            </a:r>
          </a:p>
          <a:p>
            <a:pPr indent="-311150" lvl="0" marL="457200"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">
                <a:solidFill>
                  <a:srgbClr val="000000"/>
                </a:solidFill>
              </a:rPr>
              <a:t>By calculating the position of the brightest pixel, we warn the user to move in </a:t>
            </a:r>
            <a:r>
              <a:rPr lang="en">
                <a:solidFill>
                  <a:srgbClr val="000000"/>
                </a:solidFill>
              </a:rPr>
              <a:t>different</a:t>
            </a:r>
            <a:r>
              <a:rPr lang="en">
                <a:solidFill>
                  <a:srgbClr val="000000"/>
                </a:solidFill>
              </a:rPr>
              <a:t> (safe) direction.</a:t>
            </a:r>
          </a:p>
        </p:txBody>
      </p:sp>
      <p:pic>
        <p:nvPicPr>
          <p:cNvPr id="145" name="Shape 145"/>
          <p:cNvPicPr preferRelativeResize="0"/>
          <p:nvPr/>
        </p:nvPicPr>
        <p:blipFill rotWithShape="1">
          <a:blip r:embed="rId3">
            <a:alphaModFix/>
          </a:blip>
          <a:srcRect b="1506" l="0" r="0" t="0"/>
          <a:stretch/>
        </p:blipFill>
        <p:spPr>
          <a:xfrm>
            <a:off x="4502925" y="1407100"/>
            <a:ext cx="4397275" cy="336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15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Future Work</a:t>
            </a:r>
          </a:p>
        </p:txBody>
      </p:sp>
      <p:sp>
        <p:nvSpPr>
          <p:cNvPr id="151" name="Shape 15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-317500" lvl="0" marL="457200" rtl="0">
              <a:spcBef>
                <a:spcPts val="0"/>
              </a:spcBef>
              <a:buSzPct val="100000"/>
              <a:buAutoNum type="arabicPeriod"/>
            </a:pPr>
            <a:r>
              <a:rPr lang="en" sz="1400"/>
              <a:t>Building a proof of concept of our model. </a:t>
            </a:r>
          </a:p>
          <a:p>
            <a:pPr indent="457200" lvl="0" rtl="0">
              <a:spcBef>
                <a:spcPts val="0"/>
              </a:spcBef>
              <a:buNone/>
            </a:pPr>
            <a:r>
              <a:rPr lang="en" sz="1400"/>
              <a:t>The arrangement of the cameras is as follows:</a:t>
            </a:r>
          </a:p>
          <a:p>
            <a:pPr indent="-317500" lvl="0" marL="457200" rtl="0">
              <a:spcBef>
                <a:spcPts val="0"/>
              </a:spcBef>
              <a:buSzPct val="100000"/>
              <a:buAutoNum type="arabicPeriod"/>
            </a:pPr>
            <a:r>
              <a:rPr lang="en" sz="1400"/>
              <a:t>Integrating the developed algorithm in a mobile application.</a:t>
            </a:r>
          </a:p>
          <a:p>
            <a:pPr indent="-317500" lvl="0" marL="457200" rtl="0">
              <a:spcBef>
                <a:spcPts val="0"/>
              </a:spcBef>
              <a:buSzPct val="100000"/>
              <a:buAutoNum type="arabicPeriod"/>
            </a:pPr>
            <a:r>
              <a:rPr lang="en" sz="1400"/>
              <a:t>Integrating our models with a portable processor and establish a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400"/>
              <a:t> 	fast communication between the cameras and the processor.</a:t>
            </a:r>
          </a:p>
          <a:p>
            <a:pPr indent="-317500" lvl="0" marL="457200" rtl="0">
              <a:spcBef>
                <a:spcPts val="0"/>
              </a:spcBef>
              <a:buSzPct val="100000"/>
              <a:buAutoNum type="arabicPeriod"/>
            </a:pPr>
            <a:r>
              <a:rPr lang="en" sz="1400"/>
              <a:t>Interpreting the text outputs in the form of audio signals.</a:t>
            </a:r>
          </a:p>
        </p:txBody>
      </p:sp>
      <p:pic>
        <p:nvPicPr>
          <p:cNvPr id="152" name="Shape 1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58844" y="1373144"/>
            <a:ext cx="2662950" cy="199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